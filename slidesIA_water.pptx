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281/zenodo.7855594" TargetMode="External"/><Relationship Id="rId7" Type="http://schemas.openxmlformats.org/officeDocument/2006/relationships/comments" Target="../comments/commen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dl.acm.org/doi/full/10.1145/3724499" TargetMode="External"/><Relationship Id="rId4" Type="http://schemas.openxmlformats.org/officeDocument/2006/relationships/hyperlink" Target="https://doi.org/10.1007/s43832-024-00173-y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5472" y="-6599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5472" y="1889075"/>
            <a:ext cx="6141472" cy="226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400" b="1" dirty="0">
                <a:solidFill>
                  <a:schemeClr val="tx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CONSUMO DE ÁGUA E SUSTENTABILIDADE NA EXPANSÃO DE INTELIGÊNICA ARTIFICIAL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spcBef>
                <a:spcPct val="50000"/>
              </a:spcBef>
            </a:pPr>
            <a:endParaRPr lang="pt-BR" altLang="pt-BR" sz="30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200" y="2360572"/>
            <a:ext cx="3234906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Professora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Allan Góes dos Santos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Carlos Henrique Santos de Moura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Flávio de Santana Siqueira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Luccas Machado Soares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Octávio Machado Soares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172" y="4238009"/>
            <a:ext cx="465382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Pegada Hídrica. Inteligência Artificial. Sustentabilidade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401723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Problemática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: 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Consumo</a:t>
            </a:r>
            <a:r>
              <a:rPr lang="en-US" sz="1800" dirty="0"/>
              <a:t> de </a:t>
            </a:r>
            <a:r>
              <a:rPr lang="en-US" sz="1800" dirty="0" err="1"/>
              <a:t>água</a:t>
            </a:r>
            <a:r>
              <a:rPr lang="en-US" sz="1800" dirty="0"/>
              <a:t> </a:t>
            </a:r>
            <a:r>
              <a:rPr lang="en-US" sz="1800" dirty="0" err="1"/>
              <a:t>pelos</a:t>
            </a:r>
            <a:r>
              <a:rPr lang="en-US" sz="1800" dirty="0"/>
              <a:t> data centers de IA.</a:t>
            </a:r>
          </a:p>
          <a:p>
            <a:pPr lvl="0"/>
            <a:r>
              <a:rPr lang="en-US" sz="1800" dirty="0"/>
              <a:t> Falta de dados </a:t>
            </a:r>
            <a:r>
              <a:rPr lang="en-US" sz="1800" dirty="0" err="1"/>
              <a:t>públicos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o </a:t>
            </a:r>
            <a:r>
              <a:rPr lang="en-US" sz="1800" dirty="0" err="1"/>
              <a:t>consumo</a:t>
            </a:r>
            <a:r>
              <a:rPr lang="en-US" sz="1800" dirty="0"/>
              <a:t> real.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Estimativas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podem</a:t>
            </a:r>
            <a:r>
              <a:rPr lang="en-US" sz="1800" dirty="0"/>
              <a:t> </a:t>
            </a:r>
            <a:r>
              <a:rPr lang="en-US" sz="1800" dirty="0" err="1"/>
              <a:t>gerar</a:t>
            </a:r>
            <a:r>
              <a:rPr lang="en-US" sz="1800" dirty="0"/>
              <a:t> </a:t>
            </a:r>
            <a:r>
              <a:rPr lang="en-US" sz="1800" dirty="0" err="1"/>
              <a:t>informações</a:t>
            </a:r>
            <a:r>
              <a:rPr lang="en-US" sz="1800" dirty="0"/>
              <a:t> </a:t>
            </a:r>
            <a:r>
              <a:rPr lang="en-US" sz="1800" dirty="0" err="1"/>
              <a:t>equivocadas</a:t>
            </a:r>
            <a:r>
              <a:rPr lang="en-US" sz="1800" dirty="0"/>
              <a:t>.</a:t>
            </a:r>
          </a:p>
          <a:p>
            <a:pPr lvl="0"/>
            <a:endParaRPr lang="en-US" sz="1800" dirty="0"/>
          </a:p>
          <a:p>
            <a:pPr>
              <a:buNone/>
            </a:pP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Justificativa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Crescimento</a:t>
            </a:r>
            <a:r>
              <a:rPr lang="en-US" sz="1800" dirty="0"/>
              <a:t> da IA e </a:t>
            </a:r>
            <a:r>
              <a:rPr lang="en-US" sz="1800" dirty="0" err="1"/>
              <a:t>seus</a:t>
            </a:r>
            <a:r>
              <a:rPr lang="en-US" sz="1800" dirty="0"/>
              <a:t> </a:t>
            </a:r>
            <a:r>
              <a:rPr lang="en-US" sz="1800" dirty="0" err="1"/>
              <a:t>impactos</a:t>
            </a:r>
            <a:r>
              <a:rPr lang="en-US" sz="1800" dirty="0"/>
              <a:t> </a:t>
            </a:r>
            <a:r>
              <a:rPr lang="en-US" sz="1800" dirty="0" err="1"/>
              <a:t>ambientais</a:t>
            </a:r>
            <a:r>
              <a:rPr lang="en-US" sz="1800" dirty="0"/>
              <a:t>.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Importância</a:t>
            </a:r>
            <a:r>
              <a:rPr lang="en-US" sz="1800" dirty="0"/>
              <a:t> de </a:t>
            </a:r>
            <a:r>
              <a:rPr lang="en-US" sz="1800" dirty="0" err="1"/>
              <a:t>compreender</a:t>
            </a:r>
            <a:r>
              <a:rPr lang="en-US" sz="1800" dirty="0"/>
              <a:t> a real </a:t>
            </a:r>
            <a:r>
              <a:rPr lang="en-US" sz="1800" dirty="0" err="1"/>
              <a:t>dimensão</a:t>
            </a:r>
            <a:r>
              <a:rPr lang="en-US" sz="1800" dirty="0"/>
              <a:t> do </a:t>
            </a:r>
            <a:r>
              <a:rPr lang="en-US" sz="1800" dirty="0" err="1"/>
              <a:t>consumo</a:t>
            </a:r>
            <a:r>
              <a:rPr lang="en-US" sz="1800" dirty="0"/>
              <a:t> </a:t>
            </a:r>
            <a:r>
              <a:rPr lang="en-US" sz="1800" dirty="0" err="1"/>
              <a:t>hídrico</a:t>
            </a:r>
            <a:r>
              <a:rPr lang="en-US" sz="1800" dirty="0"/>
              <a:t>.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Necessidade</a:t>
            </a:r>
            <a:r>
              <a:rPr lang="en-US" sz="1800" dirty="0"/>
              <a:t> de </a:t>
            </a: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estratégias</a:t>
            </a:r>
            <a:r>
              <a:rPr lang="en-US" sz="1800" dirty="0"/>
              <a:t> para </a:t>
            </a:r>
            <a:r>
              <a:rPr lang="en-US" sz="1800" dirty="0" err="1"/>
              <a:t>reduzir</a:t>
            </a:r>
            <a:r>
              <a:rPr lang="en-US" sz="1800" dirty="0"/>
              <a:t> esse </a:t>
            </a:r>
            <a:r>
              <a:rPr lang="en-US" sz="1800" dirty="0" err="1"/>
              <a:t>impacto</a:t>
            </a:r>
            <a:r>
              <a:rPr lang="en-US" sz="1800" dirty="0"/>
              <a:t> e </a:t>
            </a:r>
            <a:r>
              <a:rPr lang="en-US" sz="1800" dirty="0" err="1"/>
              <a:t>tornar</a:t>
            </a:r>
            <a:r>
              <a:rPr lang="en-US" sz="1800" dirty="0"/>
              <a:t> a IA </a:t>
            </a: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sustentável</a:t>
            </a:r>
            <a:r>
              <a:rPr lang="en-US" sz="18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0" y="1854160"/>
            <a:ext cx="706596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Objetivo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geral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  <a:p>
            <a:pPr lvl="0"/>
            <a:r>
              <a:rPr lang="en-US" sz="1600" dirty="0"/>
              <a:t> </a:t>
            </a:r>
            <a:r>
              <a:rPr lang="en-US" sz="1800" dirty="0" err="1"/>
              <a:t>Analisar</a:t>
            </a:r>
            <a:r>
              <a:rPr lang="en-US" sz="1800" dirty="0"/>
              <a:t> o </a:t>
            </a:r>
            <a:r>
              <a:rPr lang="en-US" sz="1800" dirty="0" err="1"/>
              <a:t>consumo</a:t>
            </a:r>
            <a:r>
              <a:rPr lang="en-US" sz="1800" dirty="0"/>
              <a:t> de </a:t>
            </a:r>
            <a:r>
              <a:rPr lang="en-US" sz="1800" dirty="0" err="1"/>
              <a:t>água</a:t>
            </a:r>
            <a:r>
              <a:rPr lang="en-US" sz="1800" dirty="0"/>
              <a:t> </a:t>
            </a:r>
            <a:r>
              <a:rPr lang="en-US" sz="1800" dirty="0" err="1"/>
              <a:t>associado</a:t>
            </a:r>
            <a:r>
              <a:rPr lang="en-US" sz="1800" dirty="0"/>
              <a:t> à </a:t>
            </a:r>
            <a:r>
              <a:rPr lang="en-US" sz="1800" dirty="0" err="1"/>
              <a:t>infraestrutura</a:t>
            </a:r>
            <a:r>
              <a:rPr lang="en-US" sz="1800" dirty="0"/>
              <a:t> de </a:t>
            </a:r>
            <a:r>
              <a:rPr lang="en-US" sz="1800" dirty="0" err="1"/>
              <a:t>Inteligência</a:t>
            </a:r>
            <a:r>
              <a:rPr lang="en-US" sz="1800" dirty="0"/>
              <a:t> Artificial.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Compreender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impactos</a:t>
            </a:r>
            <a:r>
              <a:rPr lang="en-US" sz="1800" dirty="0"/>
              <a:t> </a:t>
            </a:r>
            <a:r>
              <a:rPr lang="en-US" sz="1800" dirty="0" err="1"/>
              <a:t>ambientais</a:t>
            </a:r>
            <a:r>
              <a:rPr lang="en-US" sz="1800" dirty="0"/>
              <a:t> </a:t>
            </a:r>
            <a:r>
              <a:rPr lang="en-US" sz="1800" dirty="0" err="1"/>
              <a:t>relacionados</a:t>
            </a:r>
            <a:r>
              <a:rPr lang="en-US" sz="1800" dirty="0"/>
              <a:t> </a:t>
            </a:r>
            <a:r>
              <a:rPr lang="en-US" sz="1800" dirty="0" err="1"/>
              <a:t>ao</a:t>
            </a:r>
            <a:r>
              <a:rPr lang="en-US" sz="1800" dirty="0"/>
              <a:t> </a:t>
            </a:r>
            <a:r>
              <a:rPr lang="en-US" sz="1800" dirty="0" err="1"/>
              <a:t>funcionamento</a:t>
            </a:r>
            <a:r>
              <a:rPr lang="en-US" sz="1800" dirty="0"/>
              <a:t> dos data centers.</a:t>
            </a:r>
          </a:p>
          <a:p>
            <a:pPr>
              <a:buNone/>
            </a:pP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Objetivos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específicos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0"/>
            <a:r>
              <a:rPr lang="en-US" sz="1600" dirty="0"/>
              <a:t> </a:t>
            </a:r>
            <a:r>
              <a:rPr lang="en-US" sz="1800" dirty="0" err="1"/>
              <a:t>Identificar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principais</a:t>
            </a:r>
            <a:r>
              <a:rPr lang="en-US" sz="1800" dirty="0"/>
              <a:t> </a:t>
            </a:r>
            <a:r>
              <a:rPr lang="en-US" sz="1800" dirty="0" err="1"/>
              <a:t>fatores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influenciam</a:t>
            </a:r>
            <a:r>
              <a:rPr lang="en-US" sz="1800" dirty="0"/>
              <a:t> o </a:t>
            </a:r>
            <a:r>
              <a:rPr lang="en-US" sz="1800" dirty="0" err="1"/>
              <a:t>consumo</a:t>
            </a:r>
            <a:r>
              <a:rPr lang="en-US" sz="1800" dirty="0"/>
              <a:t> </a:t>
            </a:r>
            <a:r>
              <a:rPr lang="en-US" sz="1800" dirty="0" err="1"/>
              <a:t>hídrico</a:t>
            </a:r>
            <a:r>
              <a:rPr lang="en-US" sz="1800" dirty="0"/>
              <a:t> da IA.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Comparar</a:t>
            </a:r>
            <a:r>
              <a:rPr lang="en-US" sz="1800" dirty="0"/>
              <a:t> </a:t>
            </a:r>
            <a:r>
              <a:rPr lang="en-US" sz="1800" dirty="0" err="1"/>
              <a:t>estudos</a:t>
            </a:r>
            <a:r>
              <a:rPr lang="en-US" sz="1800" dirty="0"/>
              <a:t> </a:t>
            </a:r>
            <a:r>
              <a:rPr lang="en-US" sz="1800" dirty="0" err="1"/>
              <a:t>científicos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a </a:t>
            </a:r>
            <a:r>
              <a:rPr lang="en-US" sz="1800" dirty="0" err="1"/>
              <a:t>pegada</a:t>
            </a:r>
            <a:r>
              <a:rPr lang="en-US" sz="1800" dirty="0"/>
              <a:t> </a:t>
            </a:r>
            <a:r>
              <a:rPr lang="en-US" sz="1800" dirty="0" err="1"/>
              <a:t>hídrica</a:t>
            </a:r>
            <a:r>
              <a:rPr lang="en-US" sz="1800" dirty="0"/>
              <a:t> dos </a:t>
            </a:r>
            <a:r>
              <a:rPr lang="en-US" sz="1800" dirty="0" err="1"/>
              <a:t>modelos</a:t>
            </a:r>
            <a:r>
              <a:rPr lang="en-US" sz="1800" dirty="0"/>
              <a:t> de IA.</a:t>
            </a:r>
          </a:p>
          <a:p>
            <a:pPr lvl="0"/>
            <a:r>
              <a:rPr lang="en-US" sz="1800" dirty="0"/>
              <a:t> </a:t>
            </a:r>
            <a:r>
              <a:rPr lang="en-US" sz="1800" dirty="0" err="1"/>
              <a:t>Apresentar</a:t>
            </a:r>
            <a:r>
              <a:rPr lang="en-US" sz="1800" dirty="0"/>
              <a:t> </a:t>
            </a:r>
            <a:r>
              <a:rPr lang="en-US" sz="1800" dirty="0" err="1"/>
              <a:t>estratégias</a:t>
            </a:r>
            <a:r>
              <a:rPr lang="en-US" sz="1800" dirty="0"/>
              <a:t> para </a:t>
            </a:r>
            <a:r>
              <a:rPr lang="en-US" sz="1800" dirty="0" err="1"/>
              <a:t>reduzir</a:t>
            </a:r>
            <a:r>
              <a:rPr lang="en-US" sz="1800" dirty="0"/>
              <a:t> o </a:t>
            </a:r>
            <a:r>
              <a:rPr lang="en-US" sz="1800" dirty="0" err="1"/>
              <a:t>consumo</a:t>
            </a:r>
            <a:r>
              <a:rPr lang="en-US" sz="1800" dirty="0"/>
              <a:t> de </a:t>
            </a:r>
            <a:r>
              <a:rPr lang="en-US" sz="1800" dirty="0" err="1"/>
              <a:t>água</a:t>
            </a:r>
            <a:r>
              <a:rPr lang="en-US" sz="18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	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0" y="941427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59990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538458"/>
            <a:ext cx="5953921" cy="151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>
              <a:buNone/>
            </a:pPr>
            <a:r>
              <a:rPr lang="en-US" sz="2000" b="1" dirty="0" err="1"/>
              <a:t>Abordagem</a:t>
            </a:r>
            <a:r>
              <a:rPr lang="en-US" sz="1800" dirty="0"/>
              <a:t>: </a:t>
            </a:r>
            <a:r>
              <a:rPr lang="en-US" sz="1800" dirty="0" err="1"/>
              <a:t>Qualitativa</a:t>
            </a:r>
            <a:r>
              <a:rPr lang="en-US" sz="1800" dirty="0"/>
              <a:t>.</a:t>
            </a:r>
          </a:p>
          <a:p>
            <a:pPr lvl="0">
              <a:buNone/>
            </a:pPr>
            <a:r>
              <a:rPr lang="en-US" sz="2000" b="1" dirty="0"/>
              <a:t>Tipo de </a:t>
            </a:r>
            <a:r>
              <a:rPr lang="en-US" sz="2000" b="1" dirty="0" err="1"/>
              <a:t>pesquisa</a:t>
            </a:r>
            <a:r>
              <a:rPr lang="en-US" sz="1800" dirty="0"/>
              <a:t>: </a:t>
            </a:r>
            <a:r>
              <a:rPr lang="en-US" sz="1800" dirty="0" err="1"/>
              <a:t>Revisão</a:t>
            </a:r>
            <a:r>
              <a:rPr lang="en-US" sz="1800" dirty="0"/>
              <a:t> </a:t>
            </a:r>
            <a:r>
              <a:rPr lang="en-US" sz="1800" dirty="0" err="1"/>
              <a:t>bibliográfica</a:t>
            </a:r>
            <a:r>
              <a:rPr lang="en-US" sz="1800" dirty="0"/>
              <a:t>.</a:t>
            </a:r>
          </a:p>
          <a:p>
            <a:pPr lvl="0">
              <a:buNone/>
            </a:pPr>
            <a:r>
              <a:rPr lang="en-US" sz="2000" b="1" dirty="0"/>
              <a:t>Fontes</a:t>
            </a:r>
            <a:r>
              <a:rPr lang="en-US" sz="1800" dirty="0"/>
              <a:t>: </a:t>
            </a:r>
            <a:r>
              <a:rPr lang="en-US" sz="1800" dirty="0" err="1"/>
              <a:t>Três</a:t>
            </a:r>
            <a:r>
              <a:rPr lang="en-US" sz="1800" dirty="0"/>
              <a:t> </a:t>
            </a:r>
            <a:r>
              <a:rPr lang="en-US" sz="1800" dirty="0" err="1"/>
              <a:t>artigos</a:t>
            </a:r>
            <a:r>
              <a:rPr lang="en-US" sz="1800" dirty="0"/>
              <a:t> </a:t>
            </a:r>
            <a:r>
              <a:rPr lang="en-US" sz="1800" dirty="0" err="1"/>
              <a:t>científicos</a:t>
            </a:r>
            <a:r>
              <a:rPr lang="en-US" sz="1800" dirty="0"/>
              <a:t> </a:t>
            </a:r>
            <a:r>
              <a:rPr lang="en-US" sz="1800" dirty="0" err="1"/>
              <a:t>sobre</a:t>
            </a:r>
            <a:r>
              <a:rPr lang="en-US" sz="1800" dirty="0"/>
              <a:t> IA e </a:t>
            </a:r>
            <a:r>
              <a:rPr lang="en-US" sz="1800" dirty="0" err="1"/>
              <a:t>recursos</a:t>
            </a:r>
            <a:r>
              <a:rPr lang="en-US" sz="1800" dirty="0"/>
              <a:t> </a:t>
            </a:r>
            <a:r>
              <a:rPr lang="en-US" sz="1800" dirty="0" err="1"/>
              <a:t>hídricos</a:t>
            </a:r>
            <a:r>
              <a:rPr lang="en-US" sz="1800" dirty="0"/>
              <a:t>.</a:t>
            </a:r>
          </a:p>
          <a:p>
            <a:pPr lvl="0">
              <a:buNone/>
            </a:pPr>
            <a:r>
              <a:rPr lang="en-US" sz="2000" b="1" dirty="0" err="1"/>
              <a:t>Procedimento</a:t>
            </a:r>
            <a:r>
              <a:rPr lang="en-US" sz="1800" dirty="0"/>
              <a:t>: </a:t>
            </a:r>
            <a:r>
              <a:rPr lang="en-US" sz="1800" dirty="0" err="1"/>
              <a:t>Análise</a:t>
            </a:r>
            <a:r>
              <a:rPr lang="en-US" sz="1800" dirty="0"/>
              <a:t> de </a:t>
            </a:r>
            <a:r>
              <a:rPr lang="en-US" sz="1800" dirty="0" err="1"/>
              <a:t>estudos</a:t>
            </a:r>
            <a:r>
              <a:rPr lang="en-US" sz="1800" dirty="0"/>
              <a:t> </a:t>
            </a:r>
            <a:r>
              <a:rPr lang="en-US" sz="1800" dirty="0" err="1"/>
              <a:t>já</a:t>
            </a:r>
            <a:r>
              <a:rPr lang="en-US" sz="1800" dirty="0"/>
              <a:t> </a:t>
            </a:r>
            <a:r>
              <a:rPr lang="en-US" sz="1800" dirty="0" err="1"/>
              <a:t>publicados</a:t>
            </a:r>
            <a:r>
              <a:rPr lang="en-US" sz="1800" dirty="0"/>
              <a:t>, </a:t>
            </a:r>
            <a:r>
              <a:rPr lang="en-US" sz="1800" dirty="0" err="1"/>
              <a:t>sem</a:t>
            </a:r>
            <a:r>
              <a:rPr lang="en-US" sz="1800" dirty="0"/>
              <a:t> </a:t>
            </a:r>
            <a:r>
              <a:rPr lang="en-US" sz="1800" dirty="0" err="1"/>
              <a:t>experimentos</a:t>
            </a:r>
            <a:r>
              <a:rPr lang="en-US" sz="1800" dirty="0"/>
              <a:t> </a:t>
            </a:r>
            <a:r>
              <a:rPr lang="en-US" sz="1800" dirty="0" err="1"/>
              <a:t>próprios</a:t>
            </a:r>
            <a:r>
              <a:rPr lang="en-US" sz="1800" dirty="0"/>
              <a:t>.</a:t>
            </a:r>
          </a:p>
          <a:p>
            <a:pPr lvl="0">
              <a:buNone/>
            </a:pPr>
            <a:r>
              <a:rPr lang="en-US" sz="2000" b="1" dirty="0" err="1"/>
              <a:t>Análise</a:t>
            </a:r>
            <a:r>
              <a:rPr lang="en-US" sz="1800" dirty="0"/>
              <a:t>: </a:t>
            </a:r>
            <a:r>
              <a:rPr lang="en-US" sz="1800" dirty="0" err="1"/>
              <a:t>Comparação</a:t>
            </a:r>
            <a:r>
              <a:rPr lang="en-US" sz="1800" dirty="0"/>
              <a:t> dos </a:t>
            </a:r>
            <a:r>
              <a:rPr lang="en-US" sz="1800" dirty="0" err="1"/>
              <a:t>resultados</a:t>
            </a:r>
            <a:r>
              <a:rPr lang="en-US" sz="1800" dirty="0"/>
              <a:t>, </a:t>
            </a:r>
            <a:r>
              <a:rPr lang="en-US" sz="1800" dirty="0" err="1"/>
              <a:t>impactos</a:t>
            </a:r>
            <a:r>
              <a:rPr lang="en-US" sz="1800" dirty="0"/>
              <a:t> </a:t>
            </a:r>
            <a:r>
              <a:rPr lang="en-US" sz="1800" dirty="0" err="1"/>
              <a:t>ambientais</a:t>
            </a:r>
            <a:r>
              <a:rPr lang="en-US" sz="1800" dirty="0"/>
              <a:t> e </a:t>
            </a:r>
            <a:r>
              <a:rPr lang="en-US" sz="1800" dirty="0" err="1"/>
              <a:t>estratégias</a:t>
            </a:r>
            <a:r>
              <a:rPr lang="en-US" sz="1800" dirty="0"/>
              <a:t> para </a:t>
            </a:r>
            <a:r>
              <a:rPr lang="en-US" sz="1800" dirty="0" err="1"/>
              <a:t>reduzir</a:t>
            </a:r>
            <a:r>
              <a:rPr lang="en-US" sz="1800" dirty="0"/>
              <a:t> o </a:t>
            </a:r>
            <a:r>
              <a:rPr lang="en-US" sz="1800" dirty="0" err="1"/>
              <a:t>consumo</a:t>
            </a:r>
            <a:r>
              <a:rPr lang="en-US" sz="1800" dirty="0"/>
              <a:t> de </a:t>
            </a:r>
            <a:r>
              <a:rPr lang="en-US" sz="1800" dirty="0" err="1"/>
              <a:t>água</a:t>
            </a:r>
            <a:r>
              <a:rPr lang="en-US" sz="18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706433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6056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sz="1600" b="1" dirty="0" err="1"/>
              <a:t>Pegada</a:t>
            </a:r>
            <a:r>
              <a:rPr lang="en-US" sz="1600" b="1" dirty="0"/>
              <a:t> </a:t>
            </a:r>
            <a:r>
              <a:rPr lang="en-US" sz="1600" b="1" dirty="0" err="1"/>
              <a:t>hídrica</a:t>
            </a:r>
            <a:r>
              <a:rPr lang="en-US" sz="1600" b="1" dirty="0"/>
              <a:t> da IA </a:t>
            </a:r>
            <a:r>
              <a:rPr lang="en-US" sz="1400" dirty="0"/>
              <a:t>— Li et al. (2025)</a:t>
            </a:r>
          </a:p>
          <a:p>
            <a:pPr>
              <a:buNone/>
            </a:pPr>
            <a:r>
              <a:rPr lang="en-US" sz="1400" dirty="0" err="1"/>
              <a:t>Consumo</a:t>
            </a:r>
            <a:r>
              <a:rPr lang="en-US" sz="1400" dirty="0"/>
              <a:t> de </a:t>
            </a:r>
            <a:r>
              <a:rPr lang="en-US" sz="1400" dirty="0" err="1"/>
              <a:t>água</a:t>
            </a:r>
            <a:r>
              <a:rPr lang="en-US" sz="1400" dirty="0"/>
              <a:t> no </a:t>
            </a:r>
            <a:r>
              <a:rPr lang="en-US" sz="1400" dirty="0" err="1"/>
              <a:t>treinamento</a:t>
            </a:r>
            <a:r>
              <a:rPr lang="en-US" sz="1400" dirty="0"/>
              <a:t> de </a:t>
            </a:r>
            <a:r>
              <a:rPr lang="en-US" sz="1400" dirty="0" err="1"/>
              <a:t>modelos</a:t>
            </a:r>
            <a:r>
              <a:rPr lang="en-US" sz="1400" dirty="0"/>
              <a:t> de IA e </a:t>
            </a:r>
            <a:r>
              <a:rPr lang="en-US" sz="1400" dirty="0" err="1"/>
              <a:t>nos</a:t>
            </a:r>
            <a:r>
              <a:rPr lang="en-US" sz="1400" dirty="0"/>
              <a:t> data centers.</a:t>
            </a:r>
          </a:p>
          <a:p>
            <a:pPr>
              <a:buNone/>
            </a:pPr>
            <a:r>
              <a:rPr lang="en-US" sz="1600" b="1" dirty="0" err="1"/>
              <a:t>Impactos</a:t>
            </a:r>
            <a:r>
              <a:rPr lang="en-US" sz="1600" b="1" dirty="0"/>
              <a:t> </a:t>
            </a:r>
            <a:r>
              <a:rPr lang="en-US" sz="1600" b="1" dirty="0" err="1"/>
              <a:t>ambientais</a:t>
            </a:r>
            <a:r>
              <a:rPr lang="en-US" sz="1600" b="1" dirty="0"/>
              <a:t> do ChatGPT </a:t>
            </a:r>
            <a:r>
              <a:rPr lang="en-US" sz="1400" dirty="0"/>
              <a:t>— George et al. (2023)</a:t>
            </a:r>
          </a:p>
          <a:p>
            <a:pPr>
              <a:buNone/>
            </a:pPr>
            <a:r>
              <a:rPr lang="en-US" sz="1400" dirty="0" err="1"/>
              <a:t>Consumo</a:t>
            </a:r>
            <a:r>
              <a:rPr lang="en-US" sz="1400" dirty="0"/>
              <a:t> de </a:t>
            </a:r>
            <a:r>
              <a:rPr lang="en-US" sz="1400" dirty="0" err="1"/>
              <a:t>água</a:t>
            </a:r>
            <a:r>
              <a:rPr lang="en-US" sz="1400" dirty="0"/>
              <a:t> e </a:t>
            </a:r>
            <a:r>
              <a:rPr lang="en-US" sz="1400" dirty="0" err="1"/>
              <a:t>alternativas</a:t>
            </a:r>
            <a:r>
              <a:rPr lang="en-US" sz="1400" dirty="0"/>
              <a:t> para </a:t>
            </a:r>
            <a:r>
              <a:rPr lang="en-US" sz="1400" dirty="0" err="1"/>
              <a:t>reduzir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impactos</a:t>
            </a:r>
            <a:r>
              <a:rPr lang="en-US" sz="1400" dirty="0"/>
              <a:t> </a:t>
            </a:r>
            <a:r>
              <a:rPr lang="en-US" sz="1400" dirty="0" err="1"/>
              <a:t>ambientais</a:t>
            </a:r>
            <a:r>
              <a:rPr lang="en-US" sz="1400" dirty="0"/>
              <a:t> da </a:t>
            </a:r>
            <a:r>
              <a:rPr lang="en-US" sz="1400" dirty="0" err="1"/>
              <a:t>tecnologia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600" b="1" dirty="0"/>
              <a:t>IA </a:t>
            </a:r>
            <a:r>
              <a:rPr lang="en-US" sz="1600" b="1" dirty="0" err="1"/>
              <a:t>na</a:t>
            </a:r>
            <a:r>
              <a:rPr lang="en-US" sz="1600" b="1" dirty="0"/>
              <a:t> </a:t>
            </a:r>
            <a:r>
              <a:rPr lang="en-US" sz="1600" b="1" dirty="0" err="1"/>
              <a:t>gestão</a:t>
            </a:r>
            <a:r>
              <a:rPr lang="en-US" sz="1600" b="1" dirty="0"/>
              <a:t> dos </a:t>
            </a:r>
            <a:r>
              <a:rPr lang="en-US" sz="1600" b="1" dirty="0" err="1"/>
              <a:t>recursos</a:t>
            </a:r>
            <a:r>
              <a:rPr lang="en-US" sz="1600" b="1" dirty="0"/>
              <a:t> </a:t>
            </a:r>
            <a:r>
              <a:rPr lang="en-US" sz="1600" b="1" dirty="0" err="1"/>
              <a:t>hídricos</a:t>
            </a:r>
            <a:r>
              <a:rPr lang="en-US" sz="1600" b="1" dirty="0"/>
              <a:t> </a:t>
            </a:r>
            <a:r>
              <a:rPr lang="en-US" sz="1400" dirty="0"/>
              <a:t>— Haider et al. (2024)</a:t>
            </a:r>
          </a:p>
          <a:p>
            <a:pPr>
              <a:buNone/>
            </a:pPr>
            <a:r>
              <a:rPr lang="en-US" sz="1400" dirty="0"/>
              <a:t>Uso da IA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previsão</a:t>
            </a:r>
            <a:r>
              <a:rPr lang="en-US" sz="1400" dirty="0"/>
              <a:t> de </a:t>
            </a:r>
            <a:r>
              <a:rPr lang="en-US" sz="1400" dirty="0" err="1"/>
              <a:t>enchentes</a:t>
            </a:r>
            <a:r>
              <a:rPr lang="en-US" sz="1400" dirty="0"/>
              <a:t>, no </a:t>
            </a:r>
            <a:r>
              <a:rPr lang="en-US" sz="1400" dirty="0" err="1"/>
              <a:t>monitoramento</a:t>
            </a:r>
            <a:r>
              <a:rPr lang="en-US" sz="1400" dirty="0"/>
              <a:t> da </a:t>
            </a:r>
            <a:r>
              <a:rPr lang="en-US" sz="1400" dirty="0" err="1"/>
              <a:t>água</a:t>
            </a:r>
            <a:r>
              <a:rPr lang="en-US" sz="1400" dirty="0"/>
              <a:t> e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melhoria</a:t>
            </a:r>
            <a:r>
              <a:rPr lang="en-US" sz="1400" dirty="0"/>
              <a:t> da </a:t>
            </a:r>
            <a:r>
              <a:rPr lang="en-US" sz="1400" dirty="0" err="1"/>
              <a:t>irrigação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600" b="1" dirty="0" err="1"/>
              <a:t>Eficiência</a:t>
            </a:r>
            <a:r>
              <a:rPr lang="en-US" sz="1600" b="1" dirty="0"/>
              <a:t> e </a:t>
            </a:r>
            <a:r>
              <a:rPr lang="en-US" sz="1600" b="1" dirty="0" err="1"/>
              <a:t>sustentabilidade</a:t>
            </a:r>
            <a:endParaRPr lang="en-US" sz="1600" b="1" dirty="0"/>
          </a:p>
          <a:p>
            <a:pPr>
              <a:buNone/>
            </a:pPr>
            <a:r>
              <a:rPr lang="en-US" sz="1400" dirty="0" err="1"/>
              <a:t>Importância</a:t>
            </a:r>
            <a:r>
              <a:rPr lang="en-US" sz="1400" dirty="0"/>
              <a:t> de </a:t>
            </a:r>
            <a:r>
              <a:rPr lang="en-US" sz="1400" dirty="0" err="1"/>
              <a:t>otimizar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modelos</a:t>
            </a:r>
            <a:r>
              <a:rPr lang="en-US" sz="1400" dirty="0"/>
              <a:t> e </a:t>
            </a:r>
            <a:r>
              <a:rPr lang="en-US" sz="1400" dirty="0" err="1"/>
              <a:t>melhorar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sistemas</a:t>
            </a:r>
            <a:r>
              <a:rPr lang="en-US" sz="1400" dirty="0"/>
              <a:t> de </a:t>
            </a:r>
            <a:r>
              <a:rPr lang="en-US" sz="1400" dirty="0" err="1"/>
              <a:t>resfriamento</a:t>
            </a:r>
            <a:r>
              <a:rPr lang="en-US" sz="1400" dirty="0"/>
              <a:t> dos data centers.</a:t>
            </a:r>
          </a:p>
          <a:p>
            <a:pPr>
              <a:buNone/>
            </a:pPr>
            <a:r>
              <a:rPr lang="en-US" sz="1600" b="1" dirty="0" err="1"/>
              <a:t>Limitações</a:t>
            </a:r>
            <a:r>
              <a:rPr lang="en-US" sz="1600" b="1" dirty="0"/>
              <a:t> dos </a:t>
            </a:r>
            <a:r>
              <a:rPr lang="en-US" sz="1600" b="1" dirty="0" err="1"/>
              <a:t>estudos</a:t>
            </a:r>
            <a:endParaRPr lang="en-US" sz="1600" b="1" dirty="0"/>
          </a:p>
          <a:p>
            <a:pPr>
              <a:buNone/>
            </a:pPr>
            <a:r>
              <a:rPr lang="en-US" sz="1400" dirty="0"/>
              <a:t>Falta de dados </a:t>
            </a:r>
            <a:r>
              <a:rPr lang="en-US" sz="1400" dirty="0" err="1"/>
              <a:t>públicos</a:t>
            </a:r>
            <a:r>
              <a:rPr lang="en-US" sz="1400" dirty="0"/>
              <a:t> e </a:t>
            </a:r>
            <a:r>
              <a:rPr lang="en-US" sz="1400" dirty="0" err="1"/>
              <a:t>dificuldade</a:t>
            </a:r>
            <a:r>
              <a:rPr lang="en-US" sz="1400" dirty="0"/>
              <a:t> para </a:t>
            </a:r>
            <a:r>
              <a:rPr lang="en-US" sz="1400" dirty="0" err="1"/>
              <a:t>estimar</a:t>
            </a:r>
            <a:r>
              <a:rPr lang="en-US" sz="1400" dirty="0"/>
              <a:t> o </a:t>
            </a:r>
            <a:r>
              <a:rPr lang="en-US" sz="1400" dirty="0" err="1"/>
              <a:t>consumo</a:t>
            </a:r>
            <a:r>
              <a:rPr lang="en-US" sz="1400" dirty="0"/>
              <a:t> real de </a:t>
            </a:r>
            <a:r>
              <a:rPr lang="en-US" sz="1400" dirty="0" err="1"/>
              <a:t>água</a:t>
            </a:r>
            <a:r>
              <a:rPr lang="en-US" sz="1400" dirty="0"/>
              <a:t> da IA.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sz="1600" b="1" dirty="0" err="1"/>
              <a:t>Consumo</a:t>
            </a:r>
            <a:r>
              <a:rPr lang="en-US" sz="1600" b="1" dirty="0"/>
              <a:t> de </a:t>
            </a:r>
            <a:r>
              <a:rPr lang="en-US" sz="1600" b="1" dirty="0" err="1"/>
              <a:t>água</a:t>
            </a:r>
            <a:r>
              <a:rPr lang="en-US" sz="1600" b="1" dirty="0"/>
              <a:t> no </a:t>
            </a:r>
            <a:r>
              <a:rPr lang="en-US" sz="1600" b="1" dirty="0" err="1"/>
              <a:t>treinamento</a:t>
            </a:r>
            <a:r>
              <a:rPr lang="en-US" sz="1600" b="1" dirty="0"/>
              <a:t> de </a:t>
            </a:r>
            <a:r>
              <a:rPr lang="en-US" sz="1600" b="1" dirty="0" err="1"/>
              <a:t>modelos</a:t>
            </a:r>
            <a:r>
              <a:rPr lang="en-US" sz="1600" b="1" dirty="0"/>
              <a:t> </a:t>
            </a:r>
            <a:r>
              <a:rPr lang="en-US" sz="1400" dirty="0"/>
              <a:t>— Li et al. (2025)</a:t>
            </a:r>
          </a:p>
          <a:p>
            <a:pPr>
              <a:buNone/>
            </a:pPr>
            <a:r>
              <a:rPr lang="en-US" sz="1400" dirty="0" err="1"/>
              <a:t>Estimativa</a:t>
            </a:r>
            <a:r>
              <a:rPr lang="en-US" sz="1400" dirty="0"/>
              <a:t> do </a:t>
            </a:r>
            <a:r>
              <a:rPr lang="en-US" sz="1400" dirty="0" err="1"/>
              <a:t>uso</a:t>
            </a:r>
            <a:r>
              <a:rPr lang="en-US" sz="1400" dirty="0"/>
              <a:t> de </a:t>
            </a:r>
            <a:r>
              <a:rPr lang="en-US" sz="1400" dirty="0" err="1"/>
              <a:t>água</a:t>
            </a:r>
            <a:r>
              <a:rPr lang="en-US" sz="1400" dirty="0"/>
              <a:t> </a:t>
            </a:r>
            <a:r>
              <a:rPr lang="en-US" sz="1400" dirty="0" err="1"/>
              <a:t>doce</a:t>
            </a:r>
            <a:r>
              <a:rPr lang="en-US" sz="1400" dirty="0"/>
              <a:t> no </a:t>
            </a:r>
            <a:r>
              <a:rPr lang="en-US" sz="1400" dirty="0" err="1"/>
              <a:t>treinamento</a:t>
            </a:r>
            <a:r>
              <a:rPr lang="en-US" sz="1400" dirty="0"/>
              <a:t> do GPT-3.</a:t>
            </a:r>
          </a:p>
          <a:p>
            <a:pPr>
              <a:buNone/>
            </a:pPr>
            <a:r>
              <a:rPr lang="en-US" sz="1600" b="1" dirty="0" err="1"/>
              <a:t>Resfriamento</a:t>
            </a:r>
            <a:r>
              <a:rPr lang="en-US" sz="1600" b="1" dirty="0"/>
              <a:t> dos data centers </a:t>
            </a:r>
            <a:r>
              <a:rPr lang="en-US" sz="1400" dirty="0"/>
              <a:t>— George et al. (2023)</a:t>
            </a:r>
          </a:p>
          <a:p>
            <a:pPr>
              <a:buNone/>
            </a:pPr>
            <a:r>
              <a:rPr lang="en-US" sz="1400" dirty="0" err="1"/>
              <a:t>Importância</a:t>
            </a:r>
            <a:r>
              <a:rPr lang="en-US" sz="1400" dirty="0"/>
              <a:t> dos </a:t>
            </a:r>
            <a:r>
              <a:rPr lang="en-US" sz="1400" dirty="0" err="1"/>
              <a:t>sistemas</a:t>
            </a:r>
            <a:r>
              <a:rPr lang="en-US" sz="1400" dirty="0"/>
              <a:t> de </a:t>
            </a:r>
            <a:r>
              <a:rPr lang="en-US" sz="1400" dirty="0" err="1"/>
              <a:t>refrigeração</a:t>
            </a:r>
            <a:r>
              <a:rPr lang="en-US" sz="1400" dirty="0"/>
              <a:t> no </a:t>
            </a:r>
            <a:r>
              <a:rPr lang="en-US" sz="1400" dirty="0" err="1"/>
              <a:t>consumo</a:t>
            </a:r>
            <a:r>
              <a:rPr lang="en-US" sz="1400" dirty="0"/>
              <a:t> </a:t>
            </a:r>
            <a:r>
              <a:rPr lang="en-US" sz="1400" dirty="0" err="1"/>
              <a:t>hídrico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600" b="1" dirty="0" err="1"/>
              <a:t>Previsão</a:t>
            </a:r>
            <a:r>
              <a:rPr lang="en-US" sz="1600" b="1" dirty="0"/>
              <a:t> de </a:t>
            </a:r>
            <a:r>
              <a:rPr lang="en-US" sz="1600" b="1" dirty="0" err="1"/>
              <a:t>enchentes</a:t>
            </a:r>
            <a:r>
              <a:rPr lang="en-US" sz="1600" b="1" dirty="0"/>
              <a:t> </a:t>
            </a:r>
            <a:r>
              <a:rPr lang="en-US" sz="1400" dirty="0"/>
              <a:t>— Haider et al. (2024)</a:t>
            </a:r>
          </a:p>
          <a:p>
            <a:pPr>
              <a:buNone/>
            </a:pPr>
            <a:r>
              <a:rPr lang="en-US" sz="1400" dirty="0" err="1"/>
              <a:t>Aplicação</a:t>
            </a:r>
            <a:r>
              <a:rPr lang="en-US" sz="1400" dirty="0"/>
              <a:t> da IA para </a:t>
            </a:r>
            <a:r>
              <a:rPr lang="en-US" sz="1400" dirty="0" err="1"/>
              <a:t>prever</a:t>
            </a:r>
            <a:r>
              <a:rPr lang="en-US" sz="1400" dirty="0"/>
              <a:t> </a:t>
            </a:r>
            <a:r>
              <a:rPr lang="en-US" sz="1400" dirty="0" err="1"/>
              <a:t>vazões</a:t>
            </a:r>
            <a:r>
              <a:rPr lang="en-US" sz="1400" dirty="0"/>
              <a:t> e </a:t>
            </a:r>
            <a:r>
              <a:rPr lang="en-US" sz="1400" dirty="0" err="1"/>
              <a:t>identificar</a:t>
            </a:r>
            <a:r>
              <a:rPr lang="en-US" sz="1400" dirty="0"/>
              <a:t> </a:t>
            </a:r>
            <a:r>
              <a:rPr lang="en-US" sz="1400" dirty="0" err="1"/>
              <a:t>riscos</a:t>
            </a:r>
            <a:r>
              <a:rPr lang="en-US" sz="1400" dirty="0"/>
              <a:t> de </a:t>
            </a:r>
            <a:r>
              <a:rPr lang="en-US" sz="1400" dirty="0" err="1"/>
              <a:t>enchentes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600" b="1" dirty="0" err="1"/>
              <a:t>Monitoramento</a:t>
            </a:r>
            <a:r>
              <a:rPr lang="en-US" sz="1600" b="1" dirty="0"/>
              <a:t> da </a:t>
            </a:r>
            <a:r>
              <a:rPr lang="en-US" sz="1600" b="1" dirty="0" err="1"/>
              <a:t>qualidade</a:t>
            </a:r>
            <a:r>
              <a:rPr lang="en-US" sz="1600" b="1" dirty="0"/>
              <a:t> da </a:t>
            </a:r>
            <a:r>
              <a:rPr lang="en-US" sz="1600" b="1" dirty="0" err="1"/>
              <a:t>água</a:t>
            </a:r>
            <a:r>
              <a:rPr lang="en-US" sz="1600" b="1" dirty="0"/>
              <a:t> </a:t>
            </a:r>
            <a:r>
              <a:rPr lang="en-US" sz="1400" dirty="0"/>
              <a:t>— Haider et al. (2024)</a:t>
            </a:r>
          </a:p>
          <a:p>
            <a:pPr>
              <a:buNone/>
            </a:pPr>
            <a:r>
              <a:rPr lang="en-US" sz="1400" dirty="0"/>
              <a:t>Uso de </a:t>
            </a:r>
            <a:r>
              <a:rPr lang="en-US" sz="1400" dirty="0" err="1"/>
              <a:t>técnicas</a:t>
            </a:r>
            <a:r>
              <a:rPr lang="en-US" sz="1400" dirty="0"/>
              <a:t> de IA para </a:t>
            </a:r>
            <a:r>
              <a:rPr lang="en-US" sz="1400" dirty="0" err="1"/>
              <a:t>analisar</a:t>
            </a:r>
            <a:r>
              <a:rPr lang="en-US" sz="1400" dirty="0"/>
              <a:t> e </a:t>
            </a:r>
            <a:r>
              <a:rPr lang="en-US" sz="1400" dirty="0" err="1"/>
              <a:t>acompanhar</a:t>
            </a:r>
            <a:r>
              <a:rPr lang="en-US" sz="1400" dirty="0"/>
              <a:t> as </a:t>
            </a:r>
            <a:r>
              <a:rPr lang="en-US" sz="1400" dirty="0" err="1"/>
              <a:t>condições</a:t>
            </a:r>
            <a:r>
              <a:rPr lang="en-US" sz="1400" dirty="0"/>
              <a:t> da </a:t>
            </a:r>
            <a:r>
              <a:rPr lang="en-US" sz="1400" dirty="0" err="1"/>
              <a:t>água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600" b="1" dirty="0"/>
              <a:t>IA </a:t>
            </a:r>
            <a:r>
              <a:rPr lang="en-US" sz="1600" b="1" dirty="0" err="1"/>
              <a:t>aplicada</a:t>
            </a:r>
            <a:r>
              <a:rPr lang="en-US" sz="1600" b="1" dirty="0"/>
              <a:t> à </a:t>
            </a:r>
            <a:r>
              <a:rPr lang="en-US" sz="1600" b="1" dirty="0" err="1"/>
              <a:t>irrigação</a:t>
            </a:r>
            <a:r>
              <a:rPr lang="en-US" sz="1600" b="1" dirty="0"/>
              <a:t> </a:t>
            </a:r>
            <a:r>
              <a:rPr lang="en-US" sz="1400" dirty="0"/>
              <a:t>— Haider et al. (2024)</a:t>
            </a:r>
          </a:p>
          <a:p>
            <a:pPr>
              <a:buNone/>
            </a:pPr>
            <a:r>
              <a:rPr lang="en-US" sz="1400" dirty="0" err="1"/>
              <a:t>Possibilidade</a:t>
            </a:r>
            <a:r>
              <a:rPr lang="en-US" sz="1400" dirty="0"/>
              <a:t> de </a:t>
            </a:r>
            <a:r>
              <a:rPr lang="en-US" sz="1400" dirty="0" err="1"/>
              <a:t>melhorar</a:t>
            </a:r>
            <a:r>
              <a:rPr lang="en-US" sz="1400" dirty="0"/>
              <a:t> o </a:t>
            </a:r>
            <a:r>
              <a:rPr lang="en-US" sz="1400" dirty="0" err="1"/>
              <a:t>uso</a:t>
            </a:r>
            <a:r>
              <a:rPr lang="en-US" sz="1400" dirty="0"/>
              <a:t> da </a:t>
            </a:r>
            <a:r>
              <a:rPr lang="en-US" sz="1400" dirty="0" err="1"/>
              <a:t>água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agricultura</a:t>
            </a:r>
            <a:r>
              <a:rPr lang="en-US" sz="1400" dirty="0"/>
              <a:t> e </a:t>
            </a:r>
            <a:r>
              <a:rPr lang="en-US" sz="1400" dirty="0" err="1"/>
              <a:t>reduzir</a:t>
            </a:r>
            <a:r>
              <a:rPr lang="en-US" sz="1400" dirty="0"/>
              <a:t> </a:t>
            </a:r>
            <a:r>
              <a:rPr lang="en-US" sz="1400" dirty="0" err="1"/>
              <a:t>desperdícios</a:t>
            </a:r>
            <a:r>
              <a:rPr lang="en-US" sz="14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>
              <a:buNone/>
            </a:pPr>
            <a:r>
              <a:rPr lang="en-US" sz="1600" b="1" dirty="0"/>
              <a:t>Impacto </a:t>
            </a:r>
            <a:r>
              <a:rPr lang="en-US" sz="1600" b="1" dirty="0" err="1"/>
              <a:t>ambiental</a:t>
            </a:r>
            <a:r>
              <a:rPr lang="en-US" sz="1400" dirty="0"/>
              <a:t>: A </a:t>
            </a:r>
            <a:r>
              <a:rPr lang="en-US" sz="1400" dirty="0" err="1"/>
              <a:t>infraestrutura</a:t>
            </a:r>
            <a:r>
              <a:rPr lang="en-US" sz="1400" dirty="0"/>
              <a:t> de IA </a:t>
            </a:r>
            <a:r>
              <a:rPr lang="en-US" sz="1400" dirty="0" err="1"/>
              <a:t>pode</a:t>
            </a:r>
            <a:r>
              <a:rPr lang="en-US" sz="1400" dirty="0"/>
              <a:t> </a:t>
            </a:r>
            <a:r>
              <a:rPr lang="en-US" sz="1400" dirty="0" err="1"/>
              <a:t>consumir</a:t>
            </a:r>
            <a:r>
              <a:rPr lang="en-US" sz="1400" dirty="0"/>
              <a:t> </a:t>
            </a:r>
            <a:r>
              <a:rPr lang="en-US" sz="1400" dirty="0" err="1"/>
              <a:t>quantidades</a:t>
            </a:r>
            <a:r>
              <a:rPr lang="en-US" sz="1400" dirty="0"/>
              <a:t> </a:t>
            </a:r>
            <a:r>
              <a:rPr lang="en-US" sz="1400" dirty="0" err="1"/>
              <a:t>significativas</a:t>
            </a:r>
            <a:r>
              <a:rPr lang="en-US" sz="1400" dirty="0"/>
              <a:t> de </a:t>
            </a:r>
            <a:r>
              <a:rPr lang="en-US" sz="1400" dirty="0" err="1"/>
              <a:t>água</a:t>
            </a:r>
            <a:r>
              <a:rPr lang="en-US" sz="1400" dirty="0"/>
              <a:t>.</a:t>
            </a:r>
          </a:p>
          <a:p>
            <a:pPr lvl="0">
              <a:buNone/>
            </a:pPr>
            <a:r>
              <a:rPr lang="en-US" sz="1600" b="1" dirty="0" err="1"/>
              <a:t>Fatores</a:t>
            </a:r>
            <a:r>
              <a:rPr lang="en-US" sz="1600" b="1" dirty="0"/>
              <a:t> de </a:t>
            </a:r>
            <a:r>
              <a:rPr lang="en-US" sz="1600" b="1" dirty="0" err="1"/>
              <a:t>consumo</a:t>
            </a:r>
            <a:r>
              <a:rPr lang="en-US" sz="1400" dirty="0"/>
              <a:t>: A </a:t>
            </a:r>
            <a:r>
              <a:rPr lang="en-US" sz="1400" dirty="0" err="1"/>
              <a:t>localização</a:t>
            </a:r>
            <a:r>
              <a:rPr lang="en-US" sz="1400" dirty="0"/>
              <a:t> e a </a:t>
            </a:r>
            <a:r>
              <a:rPr lang="en-US" sz="1400" dirty="0" err="1"/>
              <a:t>eficiência</a:t>
            </a:r>
            <a:r>
              <a:rPr lang="en-US" sz="1400" dirty="0"/>
              <a:t> dos data centers </a:t>
            </a:r>
            <a:r>
              <a:rPr lang="en-US" sz="1400" dirty="0" err="1"/>
              <a:t>influenciam</a:t>
            </a:r>
            <a:r>
              <a:rPr lang="en-US" sz="1400" dirty="0"/>
              <a:t> o </a:t>
            </a:r>
            <a:r>
              <a:rPr lang="en-US" sz="1400" dirty="0" err="1"/>
              <a:t>uso</a:t>
            </a:r>
            <a:r>
              <a:rPr lang="en-US" sz="1400" dirty="0"/>
              <a:t> </a:t>
            </a:r>
            <a:r>
              <a:rPr lang="en-US" sz="1400" dirty="0" err="1"/>
              <a:t>hídrico</a:t>
            </a:r>
            <a:r>
              <a:rPr lang="en-US" sz="1400" dirty="0"/>
              <a:t>.</a:t>
            </a:r>
          </a:p>
          <a:p>
            <a:pPr lvl="0">
              <a:buNone/>
            </a:pPr>
            <a:r>
              <a:rPr lang="en-US" sz="1600" b="1" dirty="0" err="1"/>
              <a:t>Redução</a:t>
            </a:r>
            <a:r>
              <a:rPr lang="en-US" sz="1600" b="1" dirty="0"/>
              <a:t> do </a:t>
            </a:r>
            <a:r>
              <a:rPr lang="en-US" sz="1600" b="1" dirty="0" err="1"/>
              <a:t>consumo</a:t>
            </a:r>
            <a:r>
              <a:rPr lang="en-US" sz="1400" dirty="0"/>
              <a:t>: </a:t>
            </a:r>
            <a:r>
              <a:rPr lang="en-US" sz="1400" dirty="0" err="1"/>
              <a:t>Otimizar</a:t>
            </a:r>
            <a:r>
              <a:rPr lang="en-US" sz="1400" dirty="0"/>
              <a:t> </a:t>
            </a:r>
            <a:r>
              <a:rPr lang="en-US" sz="1400" dirty="0" err="1"/>
              <a:t>modelos</a:t>
            </a:r>
            <a:r>
              <a:rPr lang="en-US" sz="1400" dirty="0"/>
              <a:t> e </a:t>
            </a:r>
            <a:r>
              <a:rPr lang="en-US" sz="1400" dirty="0" err="1"/>
              <a:t>melhorar</a:t>
            </a:r>
            <a:r>
              <a:rPr lang="en-US" sz="1400" dirty="0"/>
              <a:t> </a:t>
            </a:r>
            <a:r>
              <a:rPr lang="en-US" sz="1400" dirty="0" err="1"/>
              <a:t>os</a:t>
            </a:r>
            <a:r>
              <a:rPr lang="en-US" sz="1400" dirty="0"/>
              <a:t> </a:t>
            </a:r>
            <a:r>
              <a:rPr lang="en-US" sz="1400" dirty="0" err="1"/>
              <a:t>sistemas</a:t>
            </a:r>
            <a:r>
              <a:rPr lang="en-US" sz="1400" dirty="0"/>
              <a:t> de </a:t>
            </a:r>
            <a:r>
              <a:rPr lang="en-US" sz="1400" dirty="0" err="1"/>
              <a:t>resfriamento</a:t>
            </a:r>
            <a:r>
              <a:rPr lang="en-US" sz="1400" dirty="0"/>
              <a:t> </a:t>
            </a:r>
            <a:r>
              <a:rPr lang="en-US" sz="1400" dirty="0" err="1"/>
              <a:t>são</a:t>
            </a:r>
            <a:r>
              <a:rPr lang="en-US" sz="1400" dirty="0"/>
              <a:t> </a:t>
            </a:r>
            <a:r>
              <a:rPr lang="en-US" sz="1400" dirty="0" err="1"/>
              <a:t>alternativas</a:t>
            </a:r>
            <a:r>
              <a:rPr lang="en-US" sz="1400" dirty="0"/>
              <a:t> </a:t>
            </a:r>
            <a:r>
              <a:rPr lang="en-US" sz="1400" dirty="0" err="1"/>
              <a:t>importantes</a:t>
            </a:r>
            <a:r>
              <a:rPr lang="en-US" sz="1400" dirty="0"/>
              <a:t>.</a:t>
            </a:r>
          </a:p>
          <a:p>
            <a:pPr lvl="0">
              <a:buNone/>
            </a:pPr>
            <a:r>
              <a:rPr lang="en-US" sz="1600" b="1" dirty="0" err="1"/>
              <a:t>Benefícios</a:t>
            </a:r>
            <a:r>
              <a:rPr lang="en-US" sz="1600" b="1" dirty="0"/>
              <a:t> da IA</a:t>
            </a:r>
            <a:r>
              <a:rPr lang="en-US" sz="1400" dirty="0"/>
              <a:t>: A </a:t>
            </a:r>
            <a:r>
              <a:rPr lang="en-US" sz="1400" dirty="0" err="1"/>
              <a:t>tecnologia</a:t>
            </a:r>
            <a:r>
              <a:rPr lang="en-US" sz="1400" dirty="0"/>
              <a:t> </a:t>
            </a:r>
            <a:r>
              <a:rPr lang="en-US" sz="1400" dirty="0" err="1"/>
              <a:t>pode</a:t>
            </a:r>
            <a:r>
              <a:rPr lang="en-US" sz="1400" dirty="0"/>
              <a:t> auxiliar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previsão</a:t>
            </a:r>
            <a:r>
              <a:rPr lang="en-US" sz="1400" dirty="0"/>
              <a:t> de </a:t>
            </a:r>
            <a:r>
              <a:rPr lang="en-US" sz="1400" dirty="0" err="1"/>
              <a:t>enchentes</a:t>
            </a:r>
            <a:r>
              <a:rPr lang="en-US" sz="1400" dirty="0"/>
              <a:t>, no </a:t>
            </a:r>
            <a:r>
              <a:rPr lang="en-US" sz="1400" dirty="0" err="1"/>
              <a:t>monitoramento</a:t>
            </a:r>
            <a:r>
              <a:rPr lang="en-US" sz="1400" dirty="0"/>
              <a:t> da </a:t>
            </a:r>
            <a:r>
              <a:rPr lang="en-US" sz="1400" dirty="0" err="1"/>
              <a:t>água</a:t>
            </a:r>
            <a:r>
              <a:rPr lang="en-US" sz="1400" dirty="0"/>
              <a:t> e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irrigação</a:t>
            </a:r>
            <a:r>
              <a:rPr lang="en-US" sz="1400" dirty="0"/>
              <a:t>.</a:t>
            </a:r>
          </a:p>
          <a:p>
            <a:pPr lvl="0">
              <a:buNone/>
            </a:pPr>
            <a:r>
              <a:rPr lang="en-US" sz="1600" b="1" dirty="0" err="1"/>
              <a:t>Conclusão</a:t>
            </a:r>
            <a:r>
              <a:rPr lang="en-US" sz="1400" dirty="0"/>
              <a:t>: É </a:t>
            </a:r>
            <a:r>
              <a:rPr lang="en-US" sz="1400" dirty="0" err="1"/>
              <a:t>necessário</a:t>
            </a:r>
            <a:r>
              <a:rPr lang="en-US" sz="1400" dirty="0"/>
              <a:t> </a:t>
            </a:r>
            <a:r>
              <a:rPr lang="en-US" sz="1400" dirty="0" err="1"/>
              <a:t>aumentar</a:t>
            </a:r>
            <a:r>
              <a:rPr lang="en-US" sz="1400" dirty="0"/>
              <a:t> a </a:t>
            </a:r>
            <a:r>
              <a:rPr lang="en-US" sz="1400" dirty="0" err="1"/>
              <a:t>transparência</a:t>
            </a:r>
            <a:r>
              <a:rPr lang="en-US" sz="1400" dirty="0"/>
              <a:t> dos dados e </a:t>
            </a:r>
            <a:r>
              <a:rPr lang="en-US" sz="1400" dirty="0" err="1"/>
              <a:t>buscar</a:t>
            </a:r>
            <a:r>
              <a:rPr lang="en-US" sz="1400" dirty="0"/>
              <a:t> </a:t>
            </a:r>
            <a:r>
              <a:rPr lang="en-US" sz="1400" dirty="0" err="1"/>
              <a:t>soluções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tornem</a:t>
            </a:r>
            <a:r>
              <a:rPr lang="en-US" sz="1400" dirty="0"/>
              <a:t> a IA </a:t>
            </a:r>
            <a:r>
              <a:rPr lang="en-US" sz="1400" dirty="0" err="1"/>
              <a:t>mais</a:t>
            </a:r>
            <a:r>
              <a:rPr lang="en-US" sz="1400" dirty="0"/>
              <a:t> </a:t>
            </a:r>
            <a:r>
              <a:rPr lang="en-US" sz="1400" dirty="0" err="1"/>
              <a:t>sustentável</a:t>
            </a:r>
            <a:r>
              <a:rPr lang="en-US" sz="1400" dirty="0"/>
              <a:t>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GEORGE, A. S.; GEORGE, A. S. H.; MARTIN, A. S. G. The environmental impact of AI: a case study of water consumption by Chat GPT.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Partners Universal International Innovation Journal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1, n. 2, p. 97–104, 2023. DOI: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https://doi.org/10.5281/zenodo.7855594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HAIDER, S. et al. The role of artificial intelligence (AI) and ChatGPT in water resources, including its potential benefits and associated challenges.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Water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4, art. 113, 2024. DOI: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https://doi.org/10.1007/s43832-024-00173-y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P.; YANG, J.; ISLAM, M. A.; REN, S. Making AI less “thirsty”: uncovering and addressing the secret water footprint of AI models.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Digital Library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DOI: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https://dl.acm.org/doi/full/10.1145/3724499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pt-BR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pt-BR" sz="14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água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força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motriz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natureza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Leonardo da Vinci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776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Verdana</vt:lpstr>
      <vt:lpstr>Wingdings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Allan G Santos</cp:lastModifiedBy>
  <cp:revision>21</cp:revision>
  <dcterms:created xsi:type="dcterms:W3CDTF">2021-05-14T17:32:15Z</dcterms:created>
  <dcterms:modified xsi:type="dcterms:W3CDTF">2026-10-13T22:09:17Z</dcterms:modified>
</cp:coreProperties>
</file>